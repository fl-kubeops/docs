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1568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48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4572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4572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4572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18872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118872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118872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57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B6D4"/>
                </a:solidFill>
              </a:rPr>
              <a:t>FINAL YEAR PROJECT DEFENSE FALL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9144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800" b="1" dirty="0">
                <a:solidFill>
                  <a:srgbClr val="FFFFFF"/>
                </a:solidFill>
              </a:rPr>
              <a:t>Federated Learning for</a:t>
            </a:r>
            <a:endParaRPr lang="en-US" sz="3800" dirty="0"/>
          </a:p>
          <a:p>
            <a:pPr marL="0" indent="0" algn="just">
              <a:buNone/>
            </a:pPr>
            <a:r>
              <a:rPr lang="en-US" sz="3800" b="1" dirty="0">
                <a:solidFill>
                  <a:srgbClr val="FFFFFF"/>
                </a:solidFill>
              </a:rPr>
              <a:t>Secure Healthcare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8328" y="257175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i="1" dirty="0">
                <a:solidFill>
                  <a:srgbClr val="94A3B8"/>
                </a:solidFill>
              </a:rPr>
              <a:t>FL-</a:t>
            </a:r>
            <a:r>
              <a:rPr lang="en-US" sz="1400" i="1" dirty="0" err="1">
                <a:solidFill>
                  <a:srgbClr val="94A3B8"/>
                </a:solidFill>
              </a:rPr>
              <a:t>KubeOps</a:t>
            </a:r>
            <a:r>
              <a:rPr lang="en-US" sz="1400" i="1" dirty="0">
                <a:solidFill>
                  <a:srgbClr val="94A3B8"/>
                </a:solidFill>
              </a:rPr>
              <a:t>: Privacy-Preserving Healthcare </a:t>
            </a:r>
            <a:r>
              <a:rPr lang="en-US" sz="1400" i="1" dirty="0" err="1">
                <a:solidFill>
                  <a:srgbClr val="94A3B8"/>
                </a:solidFill>
              </a:rPr>
              <a:t>GenAI</a:t>
            </a:r>
            <a:r>
              <a:rPr lang="en-US" sz="1400" i="1" dirty="0">
                <a:solidFill>
                  <a:srgbClr val="94A3B8"/>
                </a:solidFill>
              </a:rPr>
              <a:t> Infrastructure</a:t>
            </a:r>
            <a:endParaRPr lang="en-US" sz="1400" dirty="0"/>
          </a:p>
          <a:p>
            <a:pPr marL="0" indent="0" algn="just">
              <a:buNone/>
            </a:pPr>
            <a:r>
              <a:rPr lang="en-US" sz="1400" i="1" dirty="0">
                <a:solidFill>
                  <a:srgbClr val="94A3B8"/>
                </a:solidFill>
              </a:rPr>
              <a:t>for Distributed Clinical Environments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1752" y="3498723"/>
            <a:ext cx="3200400" cy="182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94A3B8"/>
                </a:solidFill>
              </a:rPr>
              <a:t>University of Central Punjab  |  Fall 2026  |  Advisor: Prof Dr Saira Andleeb Gilani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929B6BB-67FF-4178-80D6-3EE7F5A2F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1645920"/>
            <a:ext cx="2212848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915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GROUP MEMBERS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</a:rPr>
              <a:t>BSCS Final Year Project Fall 2026  |  University of Central Punjab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240569"/>
            <a:ext cx="1920240" cy="2413313"/>
          </a:xfrm>
          <a:prstGeom prst="rect">
            <a:avLst/>
          </a:prstGeom>
          <a:solidFill>
            <a:srgbClr val="1A3A6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92024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F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Faisal Khalid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852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B6D4"/>
                </a:solidFill>
              </a:rPr>
              <a:t>L1F23BSCS0192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128016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00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Lead Developer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50592" y="1188720"/>
            <a:ext cx="1947672" cy="2465162"/>
          </a:xfrm>
          <a:prstGeom prst="rect">
            <a:avLst/>
          </a:prstGeom>
          <a:solidFill>
            <a:srgbClr val="1A3A6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188720"/>
            <a:ext cx="192024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2953512" y="137160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2953512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542032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Syed Shah Wali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42032" y="2852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B6D4"/>
                </a:solidFill>
              </a:rPr>
              <a:t>L1F23BSCS0199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70632" y="3200400"/>
            <a:ext cx="128016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2770632" y="3200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FL Infrastructure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81144" y="1188720"/>
            <a:ext cx="1920240" cy="2465162"/>
          </a:xfrm>
          <a:prstGeom prst="rect">
            <a:avLst/>
          </a:prstGeom>
          <a:solidFill>
            <a:srgbClr val="1A3A6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81144" y="1188720"/>
            <a:ext cx="192024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Shape 21"/>
          <p:cNvSpPr/>
          <p:nvPr/>
        </p:nvSpPr>
        <p:spPr>
          <a:xfrm>
            <a:off x="5084064" y="137160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5084064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M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672584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M. Hammad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72584" y="2852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B6D4"/>
                </a:solidFill>
              </a:rPr>
              <a:t>L1F23BSCS0204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01184" y="3200400"/>
            <a:ext cx="128016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901184" y="3200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Security Module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711696" y="1188720"/>
            <a:ext cx="1920240" cy="2475210"/>
          </a:xfrm>
          <a:prstGeom prst="rect">
            <a:avLst/>
          </a:prstGeom>
          <a:solidFill>
            <a:srgbClr val="1A3A6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11696" y="1188720"/>
            <a:ext cx="192024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Shape 29"/>
          <p:cNvSpPr/>
          <p:nvPr/>
        </p:nvSpPr>
        <p:spPr>
          <a:xfrm>
            <a:off x="7214616" y="137160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214616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803136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Wajeeh ur Rehman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03136" y="2852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B6D4"/>
                </a:solidFill>
              </a:rPr>
              <a:t>L1F23BSCS0669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31736" y="3200400"/>
            <a:ext cx="128016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7031736" y="3200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Pipeline &amp; MLOps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Advisor: Prof Dr Saira Andleeb Gilani</a:t>
            </a:r>
            <a:endParaRPr lang="en-US" sz="1600" dirty="0"/>
          </a:p>
        </p:txBody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8D323D16-39C5-4EBF-BA2C-C8F030536B7D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5720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83464" y="112471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3807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Project background and motivation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65960"/>
            <a:ext cx="45720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" y="213055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Literature Review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3865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Comparison with existing tools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45720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" y="313639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3924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Identified gaps in current FL systems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977640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77640"/>
            <a:ext cx="45720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283464" y="414223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Dataset &amp; Benchmark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3982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Data used for evaluation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60120"/>
            <a:ext cx="45720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764024" y="112471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0352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Methodology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13807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System architecture and design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965960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65960"/>
            <a:ext cx="45720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764024" y="213055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0352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Tools &amp; Techniques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23865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Technology stack overview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971800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71800"/>
            <a:ext cx="45720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4764024" y="313639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30352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Gantt Chart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03520" y="33924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30-week project timeline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977640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977640"/>
            <a:ext cx="45720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4764024" y="414223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30352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03520" y="43982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Expected outcomes and impact</a:t>
            </a:r>
            <a:endParaRPr lang="en-US" sz="950" dirty="0"/>
          </a:p>
        </p:txBody>
      </p:sp>
      <p:sp>
        <p:nvSpPr>
          <p:cNvPr id="44" name="Shape 0">
            <a:extLst>
              <a:ext uri="{FF2B5EF4-FFF2-40B4-BE49-F238E27FC236}">
                <a16:creationId xmlns:a16="http://schemas.microsoft.com/office/drawing/2014/main" id="{A41BEC30-0A0E-470F-B98B-A5699B56D182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Problem with Centralised 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150" dirty="0">
                <a:solidFill>
                  <a:srgbClr val="0F172A"/>
                </a:solidFill>
              </a:rPr>
              <a:t>Traditional ML requires raw patient data to be moved to a central server.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150" dirty="0">
                <a:solidFill>
                  <a:srgbClr val="0F172A"/>
                </a:solidFill>
              </a:rPr>
              <a:t>Healthcare data is legally protected under HIPAA, GDPR, and Pakistan's emerging National Health Data Policy.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150" dirty="0">
                <a:solidFill>
                  <a:srgbClr val="0F172A"/>
                </a:solidFill>
              </a:rPr>
              <a:t>Hospitals in Lahore cannot transmit patient records to a shared server in Islamabad.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150" dirty="0">
                <a:solidFill>
                  <a:srgbClr val="0F172A"/>
                </a:solidFill>
              </a:rPr>
              <a:t>Isolated training produces models too statistically weak to generalise clinically.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4297680" cy="384048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914400"/>
            <a:ext cx="4297680" cy="457200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Approach: Federated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14630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700" b="1" i="1" dirty="0">
                <a:solidFill>
                  <a:srgbClr val="06B6D4"/>
                </a:solidFill>
              </a:rPr>
              <a:t>Send the AI to the data,</a:t>
            </a:r>
            <a:endParaRPr lang="en-US" sz="1700" dirty="0"/>
          </a:p>
          <a:p>
            <a:pPr marL="0" indent="0" algn="just">
              <a:buNone/>
            </a:pPr>
            <a:r>
              <a:rPr lang="en-US" sz="1700" b="1" i="1" dirty="0">
                <a:solidFill>
                  <a:srgbClr val="06B6D4"/>
                </a:solidFill>
              </a:rPr>
              <a:t>not the data to the AI.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23774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150" dirty="0">
                <a:solidFill>
                  <a:srgbClr val="CBD5E1"/>
                </a:solidFill>
              </a:rPr>
              <a:t>Model trains locally on each hospital's private data.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63440" y="30632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150" dirty="0">
                <a:solidFill>
                  <a:srgbClr val="CBD5E1"/>
                </a:solidFill>
              </a:rPr>
              <a:t>Only encrypted model weights are shared it means never raw records.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63440" y="37490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150" dirty="0">
                <a:solidFill>
                  <a:srgbClr val="CBD5E1"/>
                </a:solidFill>
              </a:rPr>
              <a:t>A global model emerges without any data centralisation.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3440" y="44348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150" dirty="0">
                <a:solidFill>
                  <a:srgbClr val="CBD5E1"/>
                </a:solidFill>
              </a:rPr>
              <a:t>Inspired by Google's FedAvg (McMahan et al., 2017).</a:t>
            </a:r>
            <a:endParaRPr lang="en-US" sz="1150" dirty="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F47F95E1-269D-49CE-AEF3-C473B39C4D1C}"/>
              </a:ext>
            </a:extLst>
          </p:cNvPr>
          <p:cNvSpPr/>
          <p:nvPr/>
        </p:nvSpPr>
        <p:spPr>
          <a:xfrm>
            <a:off x="0" y="10048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LITERATURE REVIEW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50292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14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Feature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17520" y="914400"/>
            <a:ext cx="1371600" cy="50292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7" name="Text 5"/>
          <p:cNvSpPr/>
          <p:nvPr/>
        </p:nvSpPr>
        <p:spPr>
          <a:xfrm>
            <a:off x="3063240" y="914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FL-KubeOps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914400"/>
            <a:ext cx="1280160" cy="50292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914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Flower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0" y="914400"/>
            <a:ext cx="1280160" cy="50292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914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OpenFL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1280160" cy="50292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914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Kubeflow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41732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</a:rPr>
              <a:t>Kubernetes Native Operator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141732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1417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Yes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141732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417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No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141732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1417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No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0" y="141732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1417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</a:rPr>
              <a:t>Partial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1920240"/>
            <a:ext cx="27432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1920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</a:rPr>
              <a:t>Secure Aggregation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17520" y="1920240"/>
            <a:ext cx="13716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63240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Yes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0" y="1920240"/>
            <a:ext cx="12801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1920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</a:rPr>
              <a:t>Partial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1920240"/>
            <a:ext cx="12801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1920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Yes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1920240"/>
            <a:ext cx="12801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1920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No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242316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423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</a:rPr>
              <a:t>Auto Failure Recovery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017520" y="242316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63240" y="2423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Yes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89120" y="24231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34840" y="2423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No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0" y="24231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2423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</a:rPr>
              <a:t>Partial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49440" y="24231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95160" y="2423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No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2926080"/>
            <a:ext cx="27432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</a:rPr>
              <a:t>MLflow Experiment Tracking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017520" y="2926080"/>
            <a:ext cx="13716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63240" y="2926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Yes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389120" y="2926080"/>
            <a:ext cx="12801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34840" y="2926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No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69280" y="2926080"/>
            <a:ext cx="12801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2926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No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49440" y="2926080"/>
            <a:ext cx="12801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95160" y="2926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Yes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342900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429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</a:rPr>
              <a:t>Declarative Configuration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017520" y="342900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63240" y="34290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Yes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389120" y="34290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34840" y="3429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No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669280" y="34290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15000" y="3429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No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949440" y="34290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95160" y="3429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Yes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" y="3931920"/>
            <a:ext cx="27432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3931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</a:rPr>
              <a:t>FL-First Class Workload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017520" y="3931920"/>
            <a:ext cx="13716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63240" y="3931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</a:rPr>
              <a:t>Yes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389120" y="3931920"/>
            <a:ext cx="12801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34840" y="39319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</a:rPr>
              <a:t>Partial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669280" y="3931920"/>
            <a:ext cx="12801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15000" y="39319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</a:rPr>
              <a:t>Partial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949440" y="3931920"/>
            <a:ext cx="12801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95160" y="39319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No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74320" y="4434840"/>
            <a:ext cx="8595360" cy="566928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446227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i="1" dirty="0">
                <a:solidFill>
                  <a:srgbClr val="1A3A6E"/>
                </a:solidFill>
              </a:rPr>
              <a:t>Key Gap: No existing tool combines a Kubernetes-native FL operator, secure aggregation, automatic failure recovery, and declarative configuration in a single framework.</a:t>
            </a:r>
            <a:endParaRPr lang="en-US" sz="1100" dirty="0"/>
          </a:p>
        </p:txBody>
      </p:sp>
      <p:sp>
        <p:nvSpPr>
          <p:cNvPr id="76" name="Shape 0">
            <a:extLst>
              <a:ext uri="{FF2B5EF4-FFF2-40B4-BE49-F238E27FC236}">
                <a16:creationId xmlns:a16="http://schemas.microsoft.com/office/drawing/2014/main" id="{A1FD0202-798D-4B94-BF64-629E3FD62CD7}"/>
              </a:ext>
            </a:extLst>
          </p:cNvPr>
          <p:cNvSpPr/>
          <p:nvPr/>
        </p:nvSpPr>
        <p:spPr>
          <a:xfrm>
            <a:off x="0" y="10048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731520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005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Data Cannot Move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37160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64748B"/>
                </a:solidFill>
              </a:rPr>
              <a:t>Hospitals generate rich ML training data but HIPAA and Pakistan's National Health Data Policy mandate strict data locality. Each hospital trains in isolation, producing models too weak to generalise clinically.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86000"/>
            <a:ext cx="731520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606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3774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Algorithm Without an Operating 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74320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64748B"/>
                </a:solidFill>
              </a:rPr>
              <a:t>Federated Learning resolves data-sharing algorithmically, but no production-ready infrastructure exists. Kubernetes has no concept of a federated training round, and Flower/OpenFL treat Kubernetes as a deployment environment, not an orchestration primitive.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57600"/>
            <a:ext cx="731520" cy="1188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977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7490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Operations Left to the Implementer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11480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64748B"/>
                </a:solidFill>
              </a:rPr>
              <a:t>Without a dedicated operator, every FL deployment requires manually managing client lifecycles, handling node failures, coordinating aggregation timing, and tracking model versions overhead hospital IT teams cannot sustain.</a:t>
            </a:r>
            <a:endParaRPr lang="en-US" sz="1050" dirty="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3C0A3809-2F52-4192-89B5-C88FAB2B7DFC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/ BENCHMARK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3949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39496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b="1" dirty="0">
                <a:solidFill>
                  <a:srgbClr val="FFFFFF"/>
                </a:solidFill>
              </a:rPr>
              <a:t>Federated Patient Records Benchmark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1463040" cy="41148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63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b="1" dirty="0">
                <a:solidFill>
                  <a:srgbClr val="1A3A6E"/>
                </a:solidFill>
              </a:rPr>
              <a:t>Distribution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20240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0F172A"/>
                </a:solidFill>
              </a:rPr>
              <a:t>Simulated across 4 independent hospital nodes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75104"/>
            <a:ext cx="1463040" cy="41148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7510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b="1" dirty="0">
                <a:solidFill>
                  <a:srgbClr val="1A3A6E"/>
                </a:solidFill>
              </a:rPr>
              <a:t>Data Type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20240" y="19751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/>
              <a:t>Relational patient records: vital signs, lab results, medications, and clinical notes.</a:t>
            </a:r>
          </a:p>
        </p:txBody>
      </p:sp>
      <p:sp>
        <p:nvSpPr>
          <p:cNvPr id="13" name="Shape 11"/>
          <p:cNvSpPr/>
          <p:nvPr/>
        </p:nvSpPr>
        <p:spPr>
          <a:xfrm>
            <a:off x="365760" y="2487168"/>
            <a:ext cx="1463040" cy="41148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4871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b="1" dirty="0">
                <a:solidFill>
                  <a:srgbClr val="1A3A6E"/>
                </a:solidFill>
              </a:rPr>
              <a:t>Privacy Constraint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20240" y="24871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0F172A"/>
                </a:solidFill>
              </a:rPr>
              <a:t>Raw data never leaves originating node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1463040" cy="41148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992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b="1" dirty="0">
                <a:solidFill>
                  <a:srgbClr val="1A3A6E"/>
                </a:solidFill>
              </a:rPr>
              <a:t>Training Target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20240" y="29992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0F172A"/>
                </a:solidFill>
              </a:rPr>
              <a:t>Clinical outcome prediction model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511296"/>
            <a:ext cx="1463040" cy="41148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5112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b="1" dirty="0">
                <a:solidFill>
                  <a:srgbClr val="1A3A6E"/>
                </a:solidFill>
              </a:rPr>
              <a:t>Benchmark Metric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20240" y="351129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0F172A"/>
                </a:solidFill>
              </a:rPr>
              <a:t>Federated model must achieve at least 85% of centralised accuracy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1463040" cy="41148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023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b="1" dirty="0">
                <a:solidFill>
                  <a:srgbClr val="1A3A6E"/>
                </a:solidFill>
              </a:rPr>
              <a:t>Compliance Scope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20240" y="4023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0F172A"/>
                </a:solidFill>
              </a:rPr>
              <a:t>HIPAA and Pakistan National Health Data Policy aligned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0" y="914400"/>
            <a:ext cx="1371600" cy="182880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943600" y="914400"/>
            <a:ext cx="13716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11887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</a:rPr>
              <a:t>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94360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Hospital Nodes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0" y="2926080"/>
            <a:ext cx="1371600" cy="1828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0" y="2926080"/>
            <a:ext cx="13716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3200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06B6D4"/>
                </a:solidFill>
              </a:rPr>
              <a:t>&gt;</a:t>
            </a:r>
            <a:r>
              <a:rPr lang="en-US" sz="2800" b="1" dirty="0">
                <a:solidFill>
                  <a:srgbClr val="06B6D4"/>
                </a:solidFill>
              </a:rPr>
              <a:t>85%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943600" y="3977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Min. Accuracy vs Centralised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98080" y="914400"/>
            <a:ext cx="1371600" cy="1828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4" name="Shape 32"/>
          <p:cNvSpPr/>
          <p:nvPr/>
        </p:nvSpPr>
        <p:spPr>
          <a:xfrm>
            <a:off x="7498080" y="914400"/>
            <a:ext cx="13716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0" y="11887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06B6D4"/>
                </a:solidFill>
              </a:rPr>
              <a:t>&lt;</a:t>
            </a:r>
            <a:r>
              <a:rPr lang="en-US" sz="2800" b="1" dirty="0">
                <a:solidFill>
                  <a:srgbClr val="06B6D4"/>
                </a:solidFill>
              </a:rPr>
              <a:t>60s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49808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Max Failure Recovery Time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498080" y="2926080"/>
            <a:ext cx="1371600" cy="1828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8" name="Shape 36"/>
          <p:cNvSpPr/>
          <p:nvPr/>
        </p:nvSpPr>
        <p:spPr>
          <a:xfrm>
            <a:off x="7498080" y="2926080"/>
            <a:ext cx="13716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0" y="3200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</a:rPr>
              <a:t>0%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498080" y="3977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Patient Data Leaving Node</a:t>
            </a:r>
            <a:endParaRPr lang="en-US" sz="950" dirty="0"/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3D84BF72-849E-48D7-A0EC-8B191E82ADC4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915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</a:rPr>
              <a:t>FL-KubeOps System 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0" y="914400"/>
            <a:ext cx="2194560" cy="1097280"/>
          </a:xfrm>
          <a:prstGeom prst="rect">
            <a:avLst/>
          </a:prstGeom>
          <a:solidFill>
            <a:srgbClr val="0891B2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914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Central Aggregation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14904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F2FE"/>
                </a:solidFill>
              </a:rPr>
              <a:t>kopf Operator + FastAPI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0F2FE"/>
                </a:solidFill>
              </a:rPr>
              <a:t>Kubeflow Pipeline DAG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2834640"/>
            <a:ext cx="1920240" cy="1005840"/>
          </a:xfrm>
          <a:prstGeom prst="rect">
            <a:avLst/>
          </a:prstGeom>
          <a:solidFill>
            <a:srgbClr val="1A3A6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Hospital Node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B6D4"/>
                </a:solidFill>
              </a:rPr>
              <a:t>K3s Pod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Local Training Only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77440" y="2834640"/>
            <a:ext cx="1920240" cy="1005840"/>
          </a:xfrm>
          <a:prstGeom prst="rect">
            <a:avLst/>
          </a:prstGeom>
          <a:solidFill>
            <a:srgbClr val="1A3A6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Hospital Node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B6D4"/>
                </a:solidFill>
              </a:rPr>
              <a:t>K3s Pod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423160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Local Training Only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0" y="2834640"/>
            <a:ext cx="1920240" cy="1005840"/>
          </a:xfrm>
          <a:prstGeom prst="rect">
            <a:avLst/>
          </a:prstGeom>
          <a:solidFill>
            <a:srgbClr val="1A3A6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Hospital Node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B6D4"/>
                </a:solidFill>
              </a:rPr>
              <a:t>K3s Pod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17720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Local Training Only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20840" y="2834640"/>
            <a:ext cx="1920240" cy="1005840"/>
          </a:xfrm>
          <a:prstGeom prst="rect">
            <a:avLst/>
          </a:prstGeom>
          <a:solidFill>
            <a:srgbClr val="1A3A6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Hospital Node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B6D4"/>
                </a:solidFill>
              </a:rPr>
              <a:t>K3s Pod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66560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Local Training Only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72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6B6D4"/>
                </a:solidFill>
              </a:rPr>
              <a:t>Global Model Broadcast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0" y="2240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94A3B8"/>
                </a:solidFill>
              </a:rPr>
              <a:t>Encrypted Weights Only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4023360"/>
            <a:ext cx="18288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4023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</a:rPr>
              <a:t>PySyft SMPC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</a:rPr>
              <a:t>Secure Aggregation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0" y="4023360"/>
            <a:ext cx="18288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0" y="4023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</a:rPr>
              <a:t>MLflow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</a:rPr>
              <a:t>Experiment Tracking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343400" y="4023360"/>
            <a:ext cx="18288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4023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</a:rPr>
              <a:t>Kubernetes Operator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</a:rPr>
              <a:t>kopf Framework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00800" y="4023360"/>
            <a:ext cx="24688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40233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</a:rPr>
              <a:t>K3s Lightweight Kubernetes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</a:rPr>
              <a:t>Commodity Hardware</a:t>
            </a:r>
            <a:endParaRPr lang="en-US" sz="85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00BB341-4F0E-4B4A-9D90-4A1B2427FD03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1188720" y="2022834"/>
            <a:ext cx="3291842" cy="811806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38CFFAD-FEA9-4C9A-9E47-D8B1C7381DA0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4617720" y="2011680"/>
            <a:ext cx="3063240" cy="82296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27E24CE-4048-4154-B8FD-39F0F4C3594B}"/>
              </a:ext>
            </a:extLst>
          </p:cNvPr>
          <p:cNvCxnSpPr>
            <a:cxnSpLocks/>
          </p:cNvCxnSpPr>
          <p:nvPr/>
        </p:nvCxnSpPr>
        <p:spPr>
          <a:xfrm flipH="1">
            <a:off x="3331027" y="2002536"/>
            <a:ext cx="1234440" cy="84124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6CAF82F-0F0D-4FF4-904D-13B80A94D30A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>
            <a:off x="4572000" y="1993392"/>
            <a:ext cx="960120" cy="841248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Shape 0">
            <a:extLst>
              <a:ext uri="{FF2B5EF4-FFF2-40B4-BE49-F238E27FC236}">
                <a16:creationId xmlns:a16="http://schemas.microsoft.com/office/drawing/2014/main" id="{62D3A1F0-86B1-48AD-810D-41953A412F10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200" b="1" dirty="0">
                <a:solidFill>
                  <a:srgbClr val="FFFFFF"/>
                </a:solidFill>
              </a:rPr>
              <a:t>TOOLS &amp; TECHNIQUES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987552"/>
            <a:ext cx="3995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0F172A"/>
                </a:solidFill>
              </a:rPr>
              <a:t>FL Framework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335024"/>
            <a:ext cx="3995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64748B"/>
                </a:solidFill>
              </a:rPr>
              <a:t>Python, PySyft (SMPC), Flower (reference)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91440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965192" y="987552"/>
            <a:ext cx="3995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0F172A"/>
                </a:solidFill>
              </a:rPr>
              <a:t>Kubernetes Operator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5192" y="1335024"/>
            <a:ext cx="3995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64748B"/>
                </a:solidFill>
              </a:rPr>
              <a:t>kopf (Kubernetes Operator Pythonic Framework), K3s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92024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1993392"/>
            <a:ext cx="3995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0F172A"/>
                </a:solidFill>
              </a:rPr>
              <a:t>Orchestration &amp; Pipeline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2340864"/>
            <a:ext cx="3995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64748B"/>
                </a:solidFill>
              </a:rPr>
              <a:t>Kubeflow Pipelines SDK, FastAPI (aggregation server)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920240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920240"/>
            <a:ext cx="54864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965192" y="1993392"/>
            <a:ext cx="3995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0F172A"/>
                </a:solidFill>
              </a:rPr>
              <a:t>Experiment Tracking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5192" y="2340864"/>
            <a:ext cx="3995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 err="1">
                <a:solidFill>
                  <a:srgbClr val="64748B"/>
                </a:solidFill>
              </a:rPr>
              <a:t>Mlflow</a:t>
            </a:r>
            <a:r>
              <a:rPr lang="en-US" sz="1000" dirty="0">
                <a:solidFill>
                  <a:srgbClr val="64748B"/>
                </a:solidFill>
              </a:rPr>
              <a:t>: Per-round model versioning and metrics dashboard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54864" cy="9144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2999232"/>
            <a:ext cx="3995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0F172A"/>
                </a:solidFill>
              </a:rPr>
              <a:t>Infrastructure &amp; Runtime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3346704"/>
            <a:ext cx="3995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64748B"/>
                </a:solidFill>
              </a:rPr>
              <a:t>Docker, K3s (lightweight Kubernetes), commodity hardware only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926080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926080"/>
            <a:ext cx="54864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2999232"/>
            <a:ext cx="3995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0F172A"/>
                </a:solidFill>
              </a:rPr>
              <a:t>Observability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65192" y="3346704"/>
            <a:ext cx="3995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64748B"/>
                </a:solidFill>
              </a:rPr>
              <a:t>Kubeflow Dashboard, MLflow UI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931920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93192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" y="4005072"/>
            <a:ext cx="3995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0F172A"/>
                </a:solidFill>
              </a:rPr>
              <a:t>Project Management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" y="4352544"/>
            <a:ext cx="3995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64748B"/>
                </a:solidFill>
              </a:rPr>
              <a:t>GitHub Projects (Kanban), GitHub Actions (CI/CD pipeline)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931920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931920"/>
            <a:ext cx="54864" cy="9144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4" name="Text 32"/>
          <p:cNvSpPr/>
          <p:nvPr/>
        </p:nvSpPr>
        <p:spPr>
          <a:xfrm>
            <a:off x="4965192" y="4005072"/>
            <a:ext cx="3995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0F172A"/>
                </a:solidFill>
              </a:rPr>
              <a:t>Cloud Strategy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65192" y="4352544"/>
            <a:ext cx="3995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64748B"/>
                </a:solidFill>
              </a:rPr>
              <a:t>None: fully local deployment on team hardware</a:t>
            </a:r>
            <a:endParaRPr lang="en-US" sz="1000" dirty="0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D884238C-58CE-4BF6-9F5B-9215BE78D3DA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53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GANTT CHART  —  30 WEEK PROJECT TIMELINE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74720" y="731520"/>
            <a:ext cx="868680" cy="274320"/>
          </a:xfrm>
          <a:prstGeom prst="rect">
            <a:avLst/>
          </a:prstGeom>
          <a:solidFill>
            <a:srgbClr val="0A153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731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W1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343400" y="731520"/>
            <a:ext cx="868680" cy="274320"/>
          </a:xfrm>
          <a:prstGeom prst="rect">
            <a:avLst/>
          </a:prstGeom>
          <a:solidFill>
            <a:srgbClr val="0A153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731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W6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212080" y="731520"/>
            <a:ext cx="868680" cy="274320"/>
          </a:xfrm>
          <a:prstGeom prst="rect">
            <a:avLst/>
          </a:prstGeom>
          <a:solidFill>
            <a:srgbClr val="0A153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731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W11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80760" y="731520"/>
            <a:ext cx="868680" cy="274320"/>
          </a:xfrm>
          <a:prstGeom prst="rect">
            <a:avLst/>
          </a:prstGeom>
          <a:solidFill>
            <a:srgbClr val="0A153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731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W16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949440" y="731520"/>
            <a:ext cx="868680" cy="274320"/>
          </a:xfrm>
          <a:prstGeom prst="rect">
            <a:avLst/>
          </a:prstGeom>
          <a:solidFill>
            <a:srgbClr val="0A153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731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W21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818120" y="731520"/>
            <a:ext cx="868680" cy="274320"/>
          </a:xfrm>
          <a:prstGeom prst="rect">
            <a:avLst/>
          </a:prstGeom>
          <a:solidFill>
            <a:srgbClr val="0A153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731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W26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051560"/>
            <a:ext cx="2926080" cy="566928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051560"/>
            <a:ext cx="54864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1051560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Phase 1: Research &amp; Setup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0" y="1124712"/>
            <a:ext cx="5212080" cy="420624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0" y="1124712"/>
            <a:ext cx="1042416" cy="42062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3511296" y="1124712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Wk 1–6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1709928"/>
            <a:ext cx="2926080" cy="566928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1709928"/>
            <a:ext cx="54864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17099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Phase 2: Kubernetes Operator Dev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0" y="1783080"/>
            <a:ext cx="5212080" cy="420624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26" name="Shape 24"/>
          <p:cNvSpPr/>
          <p:nvPr/>
        </p:nvSpPr>
        <p:spPr>
          <a:xfrm>
            <a:off x="4517136" y="1783080"/>
            <a:ext cx="1042416" cy="4206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553712" y="1783080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Wk 7–12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2368296"/>
            <a:ext cx="2926080" cy="566928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2368296"/>
            <a:ext cx="54864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2368296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Phase 3: FL Pipeline &amp; SMPC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74720" y="2441448"/>
            <a:ext cx="5212080" cy="420624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32" name="Shape 30"/>
          <p:cNvSpPr/>
          <p:nvPr/>
        </p:nvSpPr>
        <p:spPr>
          <a:xfrm>
            <a:off x="5559552" y="2441448"/>
            <a:ext cx="1042416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5596128" y="2441448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Wk 13–18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3026664"/>
            <a:ext cx="2926080" cy="566928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3026664"/>
            <a:ext cx="54864" cy="5669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3026664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Phase 4: Fault Tolerance &amp; MLflow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74720" y="3099816"/>
            <a:ext cx="5212080" cy="420624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38" name="Shape 36"/>
          <p:cNvSpPr/>
          <p:nvPr/>
        </p:nvSpPr>
        <p:spPr>
          <a:xfrm>
            <a:off x="6601968" y="3099816"/>
            <a:ext cx="1042416" cy="42062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9" name="Text 37"/>
          <p:cNvSpPr/>
          <p:nvPr/>
        </p:nvSpPr>
        <p:spPr>
          <a:xfrm>
            <a:off x="6638544" y="3099816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Wk 19–24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" y="3685032"/>
            <a:ext cx="2926080" cy="566928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" y="3685032"/>
            <a:ext cx="54864" cy="5669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368503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Phase 5: Benchmarking &amp; Submission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74720" y="3758184"/>
            <a:ext cx="5212080" cy="420624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44" name="Shape 42"/>
          <p:cNvSpPr/>
          <p:nvPr/>
        </p:nvSpPr>
        <p:spPr>
          <a:xfrm>
            <a:off x="7644384" y="3758184"/>
            <a:ext cx="1042416" cy="4206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7680960" y="3758184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Wk 25–30</a:t>
            </a:r>
            <a:endParaRPr lang="en-US" sz="850" dirty="0"/>
          </a:p>
        </p:txBody>
      </p:sp>
      <p:sp>
        <p:nvSpPr>
          <p:cNvPr id="57" name="Shape 0">
            <a:extLst>
              <a:ext uri="{FF2B5EF4-FFF2-40B4-BE49-F238E27FC236}">
                <a16:creationId xmlns:a16="http://schemas.microsoft.com/office/drawing/2014/main" id="{AFF35A53-6FC5-4E4C-AD46-1AA314D89B21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15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783080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43000"/>
            <a:ext cx="73152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430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K8s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Kubernetes-Native FL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A kopf-based FLCluster operator that manages the entire federated lifecycle declaratively (no manual round management).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1783080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960120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143000"/>
            <a:ext cx="73152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1430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1500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Zero Data Exposure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PySyft SMPC ensures individual gradients are mathematically irretrievable even at the central aggregation server.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160520" cy="1783080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926080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3108960"/>
            <a:ext cx="73152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10896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Enterprise Reliability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794760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Automatic mid-round failure recovery within 60 seconds, tracked end-to-end in MLflow with per-round model versioning.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160520" cy="1783080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23" name="Shape 21"/>
          <p:cNvSpPr/>
          <p:nvPr/>
        </p:nvSpPr>
        <p:spPr>
          <a:xfrm>
            <a:off x="4709160" y="2926080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3108960"/>
            <a:ext cx="73152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10896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15000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Clinical Accuracy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794760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Federated model achieves at least 85% of centralised baseline accuracy on distributed patient records benchmark.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6B6D4"/>
                </a:solidFill>
              </a:rPr>
              <a:t>FL-KubeOps makes privacy-preserving federated healthcare AI accessible, reproducible, and enterprise-ready.</a:t>
            </a:r>
            <a:endParaRPr lang="en-US" sz="1100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15009622-D4A1-4C55-ABC9-E3D4B727F121}"/>
              </a:ext>
            </a:extLst>
          </p:cNvPr>
          <p:cNvSpPr/>
          <p:nvPr/>
        </p:nvSpPr>
        <p:spPr>
          <a:xfrm>
            <a:off x="0" y="-10048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40</TotalTime>
  <Words>869</Words>
  <Application>Microsoft Office PowerPoint</Application>
  <PresentationFormat>On-screen Show (16:9)</PresentationFormat>
  <Paragraphs>219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Federated Learning for Secure Healthcare</dc:title>
  <dc:subject>PptxGenJS Presentation</dc:subject>
  <dc:creator>PptxGenJS</dc:creator>
  <cp:lastModifiedBy>L1F23BSCS0192</cp:lastModifiedBy>
  <cp:revision>7</cp:revision>
  <dcterms:created xsi:type="dcterms:W3CDTF">2026-06-08T07:27:18Z</dcterms:created>
  <dcterms:modified xsi:type="dcterms:W3CDTF">2026-06-08T09:45:43Z</dcterms:modified>
</cp:coreProperties>
</file>